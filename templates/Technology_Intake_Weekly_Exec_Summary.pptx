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spPr>
            <a:solidFill>
              <a:srgbClr val="9C5B3F"/>
            </a:solidFill>
            <a:ln w="22225" cap="flat">
              <a:solidFill>
                <a:srgbClr val="9C5B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5B3F"/>
              </a:solidFill>
              <a:ln w="9525" cap="flat">
                <a:solidFill>
                  <a:srgbClr val="9C5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W-11</c:v>
                  </c:pt>
                  <c:pt idx="1">
                    <c:v>W-10</c:v>
                  </c:pt>
                  <c:pt idx="2">
                    <c:v>W-9</c:v>
                  </c:pt>
                  <c:pt idx="3">
                    <c:v>W-8</c:v>
                  </c:pt>
                  <c:pt idx="4">
                    <c:v>W-7</c:v>
                  </c:pt>
                  <c:pt idx="5">
                    <c:v>W-6</c:v>
                  </c:pt>
                  <c:pt idx="6">
                    <c:v>W-5</c:v>
                  </c:pt>
                  <c:pt idx="7">
                    <c:v>W-4</c:v>
                  </c:pt>
                  <c:pt idx="8">
                    <c:v>W-3</c:v>
                  </c:pt>
                  <c:pt idx="9">
                    <c:v>W-2</c:v>
                  </c:pt>
                  <c:pt idx="10">
                    <c:v>W-1</c:v>
                  </c:pt>
                  <c:pt idx="11">
                    <c:v>This week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  <c:pt idx="6">
                  <c:v>11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13</c:v>
                </c:pt>
                <c:pt idx="11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3E7A52"/>
            </a:solidFill>
            <a:ln w="22225" cap="flat">
              <a:solidFill>
                <a:srgbClr val="3E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E7A52"/>
              </a:solidFill>
              <a:ln w="9525" cap="flat">
                <a:solidFill>
                  <a:srgbClr val="3E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W-11</c:v>
                  </c:pt>
                  <c:pt idx="1">
                    <c:v>W-10</c:v>
                  </c:pt>
                  <c:pt idx="2">
                    <c:v>W-9</c:v>
                  </c:pt>
                  <c:pt idx="3">
                    <c:v>W-8</c:v>
                  </c:pt>
                  <c:pt idx="4">
                    <c:v>W-7</c:v>
                  </c:pt>
                  <c:pt idx="5">
                    <c:v>W-6</c:v>
                  </c:pt>
                  <c:pt idx="6">
                    <c:v>W-5</c:v>
                  </c:pt>
                  <c:pt idx="7">
                    <c:v>W-4</c:v>
                  </c:pt>
                  <c:pt idx="8">
                    <c:v>W-3</c:v>
                  </c:pt>
                  <c:pt idx="9">
                    <c:v>W-2</c:v>
                  </c:pt>
                  <c:pt idx="10">
                    <c:v>W-1</c:v>
                  </c:pt>
                  <c:pt idx="11">
                    <c:v>This week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7</c:v>
                </c:pt>
                <c:pt idx="2">
                  <c:v>6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6</c:v>
                </c:pt>
                <c:pt idx="8">
                  <c:v>4</c:v>
                </c:pt>
                <c:pt idx="9">
                  <c:v>7</c:v>
                </c:pt>
                <c:pt idx="10">
                  <c:v>8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4CB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2B21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CE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50" b="0" i="0" u="none" strike="noStrike">
                    <a:solidFill>
                      <a:srgbClr val="6E655B"/>
                    </a:solidFill>
                    <a:latin typeface="Arial"/>
                  </a:defRPr>
                </a:pPr>
                <a:r>
                  <a:rPr sz="650" b="0" i="0" u="none" strike="noStrike">
                    <a:solidFill>
                      <a:srgbClr val="6E655B"/>
                    </a:solidFill>
                    <a:latin typeface="Arial"/>
                  </a:rPr>
                  <a:t>Requests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E65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2B211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Started</c:v>
                </c:pt>
              </c:strCache>
            </c:strRef>
          </c:tx>
          <c:spPr>
            <a:solidFill>
              <a:srgbClr val="DECB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Sub-ARB</c:v>
                  </c:pt>
                  <c:pt idx="1">
                    <c:v>AI</c:v>
                  </c:pt>
                  <c:pt idx="2">
                    <c:v>TPRM</c:v>
                  </c:pt>
                  <c:pt idx="3">
                    <c:v>CyberArch</c:v>
                  </c:pt>
                  <c:pt idx="4">
                    <c:v>Legal</c:v>
                  </c:pt>
                  <c:pt idx="5">
                    <c:v>IAM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6</c:v>
                </c:pt>
                <c:pt idx="2">
                  <c:v>8</c:v>
                </c:pt>
                <c:pt idx="3">
                  <c:v>9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 Hold</c:v>
                </c:pt>
              </c:strCache>
            </c:strRef>
          </c:tx>
          <c:spPr>
            <a:solidFill>
              <a:srgbClr val="C2A1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Sub-ARB</c:v>
                  </c:pt>
                  <c:pt idx="1">
                    <c:v>AI</c:v>
                  </c:pt>
                  <c:pt idx="2">
                    <c:v>TPRM</c:v>
                  </c:pt>
                  <c:pt idx="3">
                    <c:v>CyberArch</c:v>
                  </c:pt>
                  <c:pt idx="4">
                    <c:v>Legal</c:v>
                  </c:pt>
                  <c:pt idx="5">
                    <c:v>IAM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0.5</c:v>
                </c:pt>
                <c:pt idx="5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 In Progress</c:v>
                </c:pt>
              </c:strCache>
            </c:strRef>
          </c:tx>
          <c:spPr>
            <a:solidFill>
              <a:srgbClr val="7A5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Sub-ARB</c:v>
                  </c:pt>
                  <c:pt idx="1">
                    <c:v>AI</c:v>
                  </c:pt>
                  <c:pt idx="2">
                    <c:v>TPRM</c:v>
                  </c:pt>
                  <c:pt idx="3">
                    <c:v>CyberArch</c:v>
                  </c:pt>
                  <c:pt idx="4">
                    <c:v>Legal</c:v>
                  </c:pt>
                  <c:pt idx="5">
                    <c:v>IAM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Awaiting Requestor</c:v>
                </c:pt>
              </c:strCache>
            </c:strRef>
          </c:tx>
          <c:spPr>
            <a:solidFill>
              <a:srgbClr val="9E9A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Sub-ARB</c:v>
                  </c:pt>
                  <c:pt idx="1">
                    <c:v>AI</c:v>
                  </c:pt>
                  <c:pt idx="2">
                    <c:v>TPRM</c:v>
                  </c:pt>
                  <c:pt idx="3">
                    <c:v>CyberArch</c:v>
                  </c:pt>
                  <c:pt idx="4">
                    <c:v>Legal</c:v>
                  </c:pt>
                  <c:pt idx="5">
                    <c:v>IAM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3.5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Conditional Approval</c:v>
                </c:pt>
              </c:strCache>
            </c:strRef>
          </c:tx>
          <c:spPr>
            <a:solidFill>
              <a:srgbClr val="2B21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Sub-ARB</c:v>
                  </c:pt>
                  <c:pt idx="1">
                    <c:v>AI</c:v>
                  </c:pt>
                  <c:pt idx="2">
                    <c:v>TPRM</c:v>
                  </c:pt>
                  <c:pt idx="3">
                    <c:v>CyberArch</c:v>
                  </c:pt>
                  <c:pt idx="4">
                    <c:v>Legal</c:v>
                  </c:pt>
                  <c:pt idx="5">
                    <c:v>IAM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4CB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2B21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CE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50" b="0" i="0" u="none" strike="noStrike">
                    <a:solidFill>
                      <a:srgbClr val="6E655B"/>
                    </a:solidFill>
                    <a:latin typeface="Arial"/>
                  </a:defRPr>
                </a:pPr>
                <a:r>
                  <a:rPr sz="650" b="0" i="0" u="none" strike="noStrike">
                    <a:solidFill>
                      <a:srgbClr val="6E655B"/>
                    </a:solidFill>
                    <a:latin typeface="Arial"/>
                  </a:rPr>
                  <a:t>Median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E65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2B211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</c:v>
                </c:pt>
              </c:strCache>
            </c:strRef>
          </c:tx>
          <c:spPr>
            <a:solidFill>
              <a:srgbClr val="9C5B3F"/>
            </a:solidFill>
            <a:ln w="22225" cap="flat">
              <a:solidFill>
                <a:srgbClr val="9C5B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2B211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5B3F"/>
              </a:solidFill>
              <a:ln w="9525" cap="flat">
                <a:solidFill>
                  <a:srgbClr val="9C5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 '25</c:v>
                  </c:pt>
                  <c:pt idx="1">
                    <c:v>Jun '25</c:v>
                  </c:pt>
                  <c:pt idx="2">
                    <c:v>Jul '25</c:v>
                  </c:pt>
                  <c:pt idx="3">
                    <c:v>Aug '25</c:v>
                  </c:pt>
                  <c:pt idx="4">
                    <c:v>Sep '25</c:v>
                  </c:pt>
                  <c:pt idx="5">
                    <c:v>Oct '25</c:v>
                  </c:pt>
                  <c:pt idx="6">
                    <c:v>Nov '25</c:v>
                  </c:pt>
                  <c:pt idx="7">
                    <c:v>Dec '25</c:v>
                  </c:pt>
                  <c:pt idx="8">
                    <c:v>Jan '26</c:v>
                  </c:pt>
                  <c:pt idx="9">
                    <c:v>Feb '26</c:v>
                  </c:pt>
                  <c:pt idx="10">
                    <c:v>Mar '26</c:v>
                  </c:pt>
                  <c:pt idx="11">
                    <c:v>Apr 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31</c:v>
                </c:pt>
                <c:pt idx="2">
                  <c:v>32</c:v>
                </c:pt>
                <c:pt idx="3">
                  <c:v>30</c:v>
                </c:pt>
                <c:pt idx="4">
                  <c:v>28</c:v>
                </c:pt>
                <c:pt idx="5">
                  <c:v>27</c:v>
                </c:pt>
                <c:pt idx="6">
                  <c:v>26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24</c:v>
                </c:pt>
                <c:pt idx="11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2B211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4CB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2B21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CE9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50" b="0" i="0" u="none" strike="noStrike">
                    <a:solidFill>
                      <a:srgbClr val="6E655B"/>
                    </a:solidFill>
                    <a:latin typeface="Arial"/>
                  </a:defRPr>
                </a:pPr>
                <a:r>
                  <a:rPr sz="650" b="0" i="0" u="none" strike="noStrike">
                    <a:solidFill>
                      <a:srgbClr val="6E655B"/>
                    </a:solidFill>
                    <a:latin typeface="Arial"/>
                  </a:rPr>
                  <a:t>Median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E65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5C4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B21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Mfg &amp; Ops</c:v>
                  </c:pt>
                  <c:pt idx="1">
                    <c:v>R&amp;D</c:v>
                  </c:pt>
                  <c:pt idx="2">
                    <c:v>Revenue</c:v>
                  </c:pt>
                  <c:pt idx="3">
                    <c:v>General &amp; Admin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B21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4CB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2B21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Rebuilt as a native editable slide from a photo of the original dashboard, then regrouped.
GROUPING: TICKET FLOW (1 backlog + 2 throughput) = counts of parent requests, snapshot then trend. CYCLE TIME (3 where time goes + 4 cycle time trend) = medians in days, snapshot then trend. DEMAND &amp; RISK (5 demand source + 6 aging + 7 stalled). Panels renumbered in the new reading order.
Note: panel 3's Working Hours table is effort (hours), not cycle time — related but not the same measure. Panel 3 is sub-task level while panel 4 is parent-request level, so those tags stay on the panels.
ESTIMATED FROM THE IMAGE - verify against Jira before circulating:
1) Panel 3 stacked segment values by status. Only the bar totals were readable (~24, 14.5, 21, 24.5, 16.5, 12 median days); the split across Not Started / On Hold / Review In Progress / Awaiting Requestor / Conditional Approval is approximated.
2) Panel 2 weekly opened/closed values for W-11 through W-1. Only the current-week endpoints (8 opened, 5 closed) were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Intake — Weekly 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38160" y="182880"/>
            <a:ext cx="3685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Ending   </a:t>
            </a:r>
            <a:pPr algn="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12, 2026 (Mon)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138160" y="356616"/>
            <a:ext cx="3685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of May 12, 2026 11:00 AM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530352"/>
            <a:ext cx="276148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9224"/>
            <a:ext cx="310896" cy="310896"/>
          </a:xfrm>
          <a:prstGeom prst="ellipse">
            <a:avLst/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2237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6035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requests (active)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" y="704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941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 vs last week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76295" y="530352"/>
            <a:ext cx="276148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7735" y="649224"/>
            <a:ext cx="310896" cy="310896"/>
          </a:xfrm>
          <a:prstGeom prst="ellipse">
            <a:avLst/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7735" y="72237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1783" y="6035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resolved this week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51783" y="704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51783" y="941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 vs last week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86830" y="530352"/>
            <a:ext cx="276148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270" y="649224"/>
            <a:ext cx="310896" cy="310896"/>
          </a:xfrm>
          <a:prstGeom prst="ellipse">
            <a:avLst/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8270" y="74523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662318" y="6035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more than 90 days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62318" y="704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62318" y="941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 vs last week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097366" y="530352"/>
            <a:ext cx="2761488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8806" y="649224"/>
            <a:ext cx="310896" cy="310896"/>
          </a:xfrm>
          <a:prstGeom prst="ellipse">
            <a:avLst/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8806" y="72237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72854" y="6035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Exec-critical requests open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572854" y="7040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72854" y="941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 vs last week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1124712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are parent-request counts.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1225296"/>
            <a:ext cx="4956048" cy="3675888"/>
          </a:xfrm>
          <a:prstGeom prst="roundRect">
            <a:avLst>
              <a:gd name="adj" fmla="val 746"/>
            </a:avLst>
          </a:prstGeom>
          <a:solidFill>
            <a:srgbClr val="F3F2EF"/>
          </a:solidFill>
          <a:ln w="12700">
            <a:solidFill>
              <a:srgbClr val="DFDB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1280160"/>
            <a:ext cx="930859" cy="164592"/>
          </a:xfrm>
          <a:prstGeom prst="roundRect">
            <a:avLst>
              <a:gd name="adj" fmla="val 27778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291133"/>
            <a:ext cx="93085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FLOW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16075" y="1303020"/>
            <a:ext cx="369600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of parent requests — this week, then trend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5488" y="1463040"/>
            <a:ext cx="473659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15179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1525219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" y="15041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this week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(parent requests)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3504" y="1700784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is outpacing resolution — the active queue rose by +2.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3504" y="1865376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97510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balance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0080" y="22860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737360" y="19202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39696" y="1920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Newly opened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737360" y="208940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39696" y="20894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37360" y="225856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39696" y="2258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approved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37360" y="242773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39696" y="24277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37360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139696" y="2596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737360" y="27660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39696" y="27660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Re-opened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91840" y="2331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3602736" y="1865376"/>
            <a:ext cx="1499616" cy="1097280"/>
          </a:xfrm>
          <a:prstGeom prst="roundRect">
            <a:avLst>
              <a:gd name="adj" fmla="val 4167"/>
            </a:avLst>
          </a:prstGeom>
          <a:solidFill>
            <a:srgbClr val="F2EFE8"/>
          </a:solidFill>
          <a:ln w="9525">
            <a:solidFill>
              <a:srgbClr val="C9C1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39312" y="197510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balance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639312" y="228600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pPr algn="ctr" indent="0" marL="0">
              <a:buNone/>
            </a:pPr>
            <a:r>
              <a:rPr lang="en-US" sz="9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▲ 2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3639312" y="2679192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last week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5488" y="3145536"/>
            <a:ext cx="4736592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" y="32004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" y="3207715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04672" y="318668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trend — opened vs closed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(last 12 weeks)</a:t>
            </a:r>
            <a:endParaRPr lang="en-US" sz="1050" dirty="0"/>
          </a:p>
        </p:txBody>
      </p:sp>
      <p:graphicFrame>
        <p:nvGraphicFramePr>
          <p:cNvPr id="63" name="Chart 0" descr=""/>
          <p:cNvGraphicFramePr/>
          <p:nvPr/>
        </p:nvGraphicFramePr>
        <p:xfrm>
          <a:off x="530352" y="3383280"/>
          <a:ext cx="4023360" cy="1207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4" name="Shape 61"/>
          <p:cNvSpPr/>
          <p:nvPr/>
        </p:nvSpPr>
        <p:spPr>
          <a:xfrm>
            <a:off x="4626864" y="3840480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F0E8E2"/>
          </a:solidFill>
          <a:ln w="9525">
            <a:solidFill>
              <a:srgbClr val="9C5B3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626864" y="386334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5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626864" y="4114800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E4EDE7"/>
          </a:solidFill>
          <a:ln w="9525">
            <a:solidFill>
              <a:srgbClr val="3E7A5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626864" y="413766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603504" y="4626864"/>
            <a:ext cx="4480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based on date ticket was created (opened) or moved to Completed (closed).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5431536" y="1225296"/>
            <a:ext cx="6391656" cy="3675888"/>
          </a:xfrm>
          <a:prstGeom prst="roundRect">
            <a:avLst>
              <a:gd name="adj" fmla="val 746"/>
            </a:avLst>
          </a:prstGeom>
          <a:solidFill>
            <a:srgbClr val="F3F2EF"/>
          </a:solidFill>
          <a:ln w="12700">
            <a:solidFill>
              <a:srgbClr val="DFDBD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541264" y="1280160"/>
            <a:ext cx="859536" cy="164592"/>
          </a:xfrm>
          <a:prstGeom prst="roundRect">
            <a:avLst>
              <a:gd name="adj" fmla="val 27778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541264" y="1291133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6510528" y="1303020"/>
            <a:ext cx="5202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days — where time sits, then trend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5541264" y="1463040"/>
            <a:ext cx="617220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669280" y="15179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669280" y="1525219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5870448" y="15041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time goes — by review team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(median days)</a:t>
            </a:r>
            <a:endParaRPr lang="en-US" sz="1050" dirty="0"/>
          </a:p>
        </p:txBody>
      </p:sp>
      <p:sp>
        <p:nvSpPr>
          <p:cNvPr id="77" name="Text 74"/>
          <p:cNvSpPr/>
          <p:nvPr/>
        </p:nvSpPr>
        <p:spPr>
          <a:xfrm>
            <a:off x="10415016" y="15179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Sub-tasks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5669280" y="1682496"/>
            <a:ext cx="5852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delay is in review effort, not waiting on requestors — a capacity issue.</a:t>
            </a:r>
            <a:endParaRPr lang="en-US" sz="800" dirty="0"/>
          </a:p>
        </p:txBody>
      </p:sp>
      <p:graphicFrame>
        <p:nvGraphicFramePr>
          <p:cNvPr id="79" name="Chart 1" descr=""/>
          <p:cNvGraphicFramePr/>
          <p:nvPr/>
        </p:nvGraphicFramePr>
        <p:xfrm>
          <a:off x="5614416" y="1828800"/>
          <a:ext cx="6016752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0" name="Text 76"/>
          <p:cNvSpPr/>
          <p:nvPr/>
        </p:nvSpPr>
        <p:spPr>
          <a:xfrm>
            <a:off x="5669280" y="26151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by Team</a:t>
            </a:r>
            <a:pPr indent="0" marL="0">
              <a:buNone/>
            </a:pPr>
            <a:r>
              <a:rPr lang="en-US" sz="8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(active review effort)</a:t>
            </a:r>
            <a:endParaRPr lang="en-US" sz="850" dirty="0"/>
          </a:p>
        </p:txBody>
      </p:sp>
      <p:sp>
        <p:nvSpPr>
          <p:cNvPr id="81" name="Shape 77"/>
          <p:cNvSpPr/>
          <p:nvPr/>
        </p:nvSpPr>
        <p:spPr>
          <a:xfrm>
            <a:off x="5632704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5632704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CyberArch</a:t>
            </a:r>
            <a:endParaRPr lang="en-US" sz="650" dirty="0"/>
          </a:p>
        </p:txBody>
      </p:sp>
      <p:sp>
        <p:nvSpPr>
          <p:cNvPr id="83" name="Text 79"/>
          <p:cNvSpPr/>
          <p:nvPr/>
        </p:nvSpPr>
        <p:spPr>
          <a:xfrm>
            <a:off x="5632704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6428232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6428232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</a:t>
            </a:r>
            <a:endParaRPr lang="en-US" sz="650" dirty="0"/>
          </a:p>
        </p:txBody>
      </p:sp>
      <p:sp>
        <p:nvSpPr>
          <p:cNvPr id="86" name="Text 82"/>
          <p:cNvSpPr/>
          <p:nvPr/>
        </p:nvSpPr>
        <p:spPr>
          <a:xfrm>
            <a:off x="6428232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87" name="Shape 83"/>
          <p:cNvSpPr/>
          <p:nvPr/>
        </p:nvSpPr>
        <p:spPr>
          <a:xfrm>
            <a:off x="7223760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223760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650" dirty="0"/>
          </a:p>
        </p:txBody>
      </p:sp>
      <p:sp>
        <p:nvSpPr>
          <p:cNvPr id="89" name="Text 85"/>
          <p:cNvSpPr/>
          <p:nvPr/>
        </p:nvSpPr>
        <p:spPr>
          <a:xfrm>
            <a:off x="7223760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90" name="Shape 86"/>
          <p:cNvSpPr/>
          <p:nvPr/>
        </p:nvSpPr>
        <p:spPr>
          <a:xfrm>
            <a:off x="8019288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8019288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650" dirty="0"/>
          </a:p>
        </p:txBody>
      </p:sp>
      <p:sp>
        <p:nvSpPr>
          <p:cNvPr id="92" name="Text 88"/>
          <p:cNvSpPr/>
          <p:nvPr/>
        </p:nvSpPr>
        <p:spPr>
          <a:xfrm>
            <a:off x="8019288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93" name="Shape 89"/>
          <p:cNvSpPr/>
          <p:nvPr/>
        </p:nvSpPr>
        <p:spPr>
          <a:xfrm>
            <a:off x="8814816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8814816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50" dirty="0"/>
          </a:p>
        </p:txBody>
      </p:sp>
      <p:sp>
        <p:nvSpPr>
          <p:cNvPr id="95" name="Text 91"/>
          <p:cNvSpPr/>
          <p:nvPr/>
        </p:nvSpPr>
        <p:spPr>
          <a:xfrm>
            <a:off x="8814816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96" name="Shape 92"/>
          <p:cNvSpPr/>
          <p:nvPr/>
        </p:nvSpPr>
        <p:spPr>
          <a:xfrm>
            <a:off x="9610344" y="2743200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9610344" y="27660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Sub-ARB</a:t>
            </a:r>
            <a:endParaRPr lang="en-US" sz="650" dirty="0"/>
          </a:p>
        </p:txBody>
      </p:sp>
      <p:sp>
        <p:nvSpPr>
          <p:cNvPr id="98" name="Text 94"/>
          <p:cNvSpPr/>
          <p:nvPr/>
        </p:nvSpPr>
        <p:spPr>
          <a:xfrm>
            <a:off x="9610344" y="28483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99" name="Shape 95"/>
          <p:cNvSpPr/>
          <p:nvPr/>
        </p:nvSpPr>
        <p:spPr>
          <a:xfrm>
            <a:off x="10451592" y="2743200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2EFE8"/>
          </a:solidFill>
          <a:ln w="9525">
            <a:solidFill>
              <a:srgbClr val="C9C1B4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10451592" y="2766060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Working Hours</a:t>
            </a:r>
            <a:endParaRPr lang="en-US" sz="650" dirty="0"/>
          </a:p>
        </p:txBody>
      </p:sp>
      <p:sp>
        <p:nvSpPr>
          <p:cNvPr id="101" name="Text 97"/>
          <p:cNvSpPr/>
          <p:nvPr/>
        </p:nvSpPr>
        <p:spPr>
          <a:xfrm>
            <a:off x="10451592" y="284835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pPr algn="ctr" indent="0" marL="0">
              <a:buNone/>
            </a:pPr>
            <a:r>
              <a:rPr lang="en-US" sz="6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hrs</a:t>
            </a:r>
            <a:endParaRPr lang="en-US" sz="950" dirty="0"/>
          </a:p>
        </p:txBody>
      </p:sp>
      <p:sp>
        <p:nvSpPr>
          <p:cNvPr id="102" name="Text 98"/>
          <p:cNvSpPr/>
          <p:nvPr/>
        </p:nvSpPr>
        <p:spPr>
          <a:xfrm>
            <a:off x="5669280" y="2990088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= Not Started + Review In Progress.   Total Hours include all statuses.</a:t>
            </a:r>
            <a:endParaRPr lang="en-US" sz="650" dirty="0"/>
          </a:p>
        </p:txBody>
      </p:sp>
      <p:sp>
        <p:nvSpPr>
          <p:cNvPr id="103" name="Text 99"/>
          <p:cNvSpPr/>
          <p:nvPr/>
        </p:nvSpPr>
        <p:spPr>
          <a:xfrm>
            <a:off x="7818120" y="2624328"/>
            <a:ext cx="3785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pPr algn="r" indent="0" marL="0">
              <a:buNone/>
            </a:pPr>
            <a:r>
              <a:rPr lang="en-US" sz="7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CyberArch and TPRM account for </a:t>
            </a:r>
            <a:pPr algn="r" indent="0" marL="0">
              <a:buNone/>
            </a:pPr>
            <a:r>
              <a:rPr lang="en-US" sz="7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pPr algn="r" indent="0" marL="0">
              <a:buNone/>
            </a:pPr>
            <a:r>
              <a:rPr lang="en-US" sz="7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active review effort.</a:t>
            </a:r>
            <a:endParaRPr lang="en-US" sz="750" dirty="0"/>
          </a:p>
        </p:txBody>
      </p:sp>
      <p:sp>
        <p:nvSpPr>
          <p:cNvPr id="104" name="Shape 100"/>
          <p:cNvSpPr/>
          <p:nvPr/>
        </p:nvSpPr>
        <p:spPr>
          <a:xfrm>
            <a:off x="5541264" y="3145536"/>
            <a:ext cx="61722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5669280" y="32004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5669280" y="3207715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7" name="Text 103"/>
          <p:cNvSpPr/>
          <p:nvPr/>
        </p:nvSpPr>
        <p:spPr>
          <a:xfrm>
            <a:off x="5870448" y="318668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trend — median days to complete intake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(last 12 months)</a:t>
            </a:r>
            <a:endParaRPr lang="en-US" sz="1050" dirty="0"/>
          </a:p>
        </p:txBody>
      </p:sp>
      <p:sp>
        <p:nvSpPr>
          <p:cNvPr id="108" name="Text 104"/>
          <p:cNvSpPr/>
          <p:nvPr/>
        </p:nvSpPr>
        <p:spPr>
          <a:xfrm>
            <a:off x="10415016" y="320040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requests</a:t>
            </a:r>
            <a:endParaRPr lang="en-US" sz="700" dirty="0"/>
          </a:p>
        </p:txBody>
      </p:sp>
      <p:graphicFrame>
        <p:nvGraphicFramePr>
          <p:cNvPr id="109" name="Chart 2" descr=""/>
          <p:cNvGraphicFramePr/>
          <p:nvPr/>
        </p:nvGraphicFramePr>
        <p:xfrm>
          <a:off x="5614416" y="3383280"/>
          <a:ext cx="4681728" cy="1207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0" name="Shape 105"/>
          <p:cNvSpPr/>
          <p:nvPr/>
        </p:nvSpPr>
        <p:spPr>
          <a:xfrm>
            <a:off x="10387584" y="3493008"/>
            <a:ext cx="1280160" cy="877824"/>
          </a:xfrm>
          <a:prstGeom prst="roundRect">
            <a:avLst>
              <a:gd name="adj" fmla="val 5208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10387584" y="3584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112" name="Text 107"/>
          <p:cNvSpPr/>
          <p:nvPr/>
        </p:nvSpPr>
        <p:spPr>
          <a:xfrm>
            <a:off x="10387584" y="395020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800" dirty="0"/>
          </a:p>
        </p:txBody>
      </p:sp>
      <p:sp>
        <p:nvSpPr>
          <p:cNvPr id="113" name="Text 108"/>
          <p:cNvSpPr/>
          <p:nvPr/>
        </p:nvSpPr>
        <p:spPr>
          <a:xfrm>
            <a:off x="10387584" y="409651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 vs</a:t>
            </a:r>
            <a:endParaRPr lang="en-US" sz="750" dirty="0"/>
          </a:p>
        </p:txBody>
      </p:sp>
      <p:sp>
        <p:nvSpPr>
          <p:cNvPr id="114" name="Text 109"/>
          <p:cNvSpPr/>
          <p:nvPr/>
        </p:nvSpPr>
        <p:spPr>
          <a:xfrm>
            <a:off x="10387584" y="4215384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month</a:t>
            </a:r>
            <a:endParaRPr lang="en-US" sz="750" dirty="0"/>
          </a:p>
        </p:txBody>
      </p:sp>
      <p:sp>
        <p:nvSpPr>
          <p:cNvPr id="115" name="Text 110"/>
          <p:cNvSpPr/>
          <p:nvPr/>
        </p:nvSpPr>
        <p:spPr>
          <a:xfrm>
            <a:off x="5669280" y="4626864"/>
            <a:ext cx="4572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= time from ticket created to Completed.</a:t>
            </a:r>
            <a:endParaRPr lang="en-US" sz="650" dirty="0"/>
          </a:p>
        </p:txBody>
      </p:sp>
      <p:sp>
        <p:nvSpPr>
          <p:cNvPr id="116" name="Shape 111"/>
          <p:cNvSpPr/>
          <p:nvPr/>
        </p:nvSpPr>
        <p:spPr>
          <a:xfrm>
            <a:off x="365760" y="4974336"/>
            <a:ext cx="11457432" cy="1517904"/>
          </a:xfrm>
          <a:prstGeom prst="roundRect">
            <a:avLst>
              <a:gd name="adj" fmla="val 1807"/>
            </a:avLst>
          </a:prstGeom>
          <a:solidFill>
            <a:srgbClr val="F3F2EF"/>
          </a:solidFill>
          <a:ln w="12700">
            <a:solidFill>
              <a:srgbClr val="DFDBD3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475488" y="5029200"/>
            <a:ext cx="1073506" cy="164592"/>
          </a:xfrm>
          <a:prstGeom prst="roundRect">
            <a:avLst>
              <a:gd name="adj" fmla="val 27778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18" name="Text 113"/>
          <p:cNvSpPr/>
          <p:nvPr/>
        </p:nvSpPr>
        <p:spPr>
          <a:xfrm>
            <a:off x="475488" y="5040173"/>
            <a:ext cx="10735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&amp; RISK</a:t>
            </a:r>
            <a:endParaRPr lang="en-US" sz="800" dirty="0"/>
          </a:p>
        </p:txBody>
      </p:sp>
      <p:sp>
        <p:nvSpPr>
          <p:cNvPr id="119" name="Text 114"/>
          <p:cNvSpPr/>
          <p:nvPr/>
        </p:nvSpPr>
        <p:spPr>
          <a:xfrm>
            <a:off x="1658722" y="5052060"/>
            <a:ext cx="1005474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pressure is building — source, age, and staleness</a:t>
            </a:r>
            <a:endParaRPr lang="en-US" sz="750" dirty="0"/>
          </a:p>
        </p:txBody>
      </p:sp>
      <p:sp>
        <p:nvSpPr>
          <p:cNvPr id="120" name="Shape 115"/>
          <p:cNvSpPr/>
          <p:nvPr/>
        </p:nvSpPr>
        <p:spPr>
          <a:xfrm>
            <a:off x="475488" y="5230368"/>
            <a:ext cx="3685032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585216" y="5285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585216" y="5292547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23" name="Text 118"/>
          <p:cNvSpPr/>
          <p:nvPr/>
        </p:nvSpPr>
        <p:spPr>
          <a:xfrm>
            <a:off x="786384" y="52715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demand comes from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(parent requests)</a:t>
            </a:r>
            <a:endParaRPr lang="en-US" sz="1050" dirty="0"/>
          </a:p>
        </p:txBody>
      </p:sp>
      <p:sp>
        <p:nvSpPr>
          <p:cNvPr id="124" name="Text 119"/>
          <p:cNvSpPr/>
          <p:nvPr/>
        </p:nvSpPr>
        <p:spPr>
          <a:xfrm>
            <a:off x="585216" y="544982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and Revenue drive most new demand.</a:t>
            </a:r>
            <a:endParaRPr lang="en-US" sz="800" dirty="0"/>
          </a:p>
        </p:txBody>
      </p:sp>
      <p:graphicFrame>
        <p:nvGraphicFramePr>
          <p:cNvPr id="125" name="Chart 3" descr=""/>
          <p:cNvGraphicFramePr/>
          <p:nvPr/>
        </p:nvGraphicFramePr>
        <p:xfrm>
          <a:off x="512064" y="5577840"/>
          <a:ext cx="3602736" cy="841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6" name="Shape 120"/>
          <p:cNvSpPr/>
          <p:nvPr/>
        </p:nvSpPr>
        <p:spPr>
          <a:xfrm>
            <a:off x="4251960" y="5230368"/>
            <a:ext cx="3685032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4361688" y="5285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4361688" y="5292547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29" name="Text 123"/>
          <p:cNvSpPr/>
          <p:nvPr/>
        </p:nvSpPr>
        <p:spPr>
          <a:xfrm>
            <a:off x="4562856" y="52715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requests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(active)</a:t>
            </a:r>
            <a:endParaRPr lang="en-US" sz="1050" dirty="0"/>
          </a:p>
        </p:txBody>
      </p:sp>
      <p:sp>
        <p:nvSpPr>
          <p:cNvPr id="130" name="Text 124"/>
          <p:cNvSpPr/>
          <p:nvPr/>
        </p:nvSpPr>
        <p:spPr>
          <a:xfrm>
            <a:off x="4361688" y="544982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requests have been open more than 90 days.</a:t>
            </a:r>
            <a:endParaRPr lang="en-US" sz="800" dirty="0"/>
          </a:p>
        </p:txBody>
      </p:sp>
      <p:sp>
        <p:nvSpPr>
          <p:cNvPr id="131" name="Shape 125"/>
          <p:cNvSpPr/>
          <p:nvPr/>
        </p:nvSpPr>
        <p:spPr>
          <a:xfrm>
            <a:off x="4361688" y="5614416"/>
            <a:ext cx="786384" cy="640080"/>
          </a:xfrm>
          <a:prstGeom prst="roundRect">
            <a:avLst>
              <a:gd name="adj" fmla="val 7143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4361688" y="570585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133" name="Text 127"/>
          <p:cNvSpPr/>
          <p:nvPr/>
        </p:nvSpPr>
        <p:spPr>
          <a:xfrm>
            <a:off x="4361688" y="58887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900" dirty="0"/>
          </a:p>
        </p:txBody>
      </p:sp>
      <p:sp>
        <p:nvSpPr>
          <p:cNvPr id="134" name="Shape 128"/>
          <p:cNvSpPr/>
          <p:nvPr/>
        </p:nvSpPr>
        <p:spPr>
          <a:xfrm>
            <a:off x="5221224" y="5614416"/>
            <a:ext cx="786384" cy="640080"/>
          </a:xfrm>
          <a:prstGeom prst="roundRect">
            <a:avLst>
              <a:gd name="adj" fmla="val 7143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35" name="Text 129"/>
          <p:cNvSpPr/>
          <p:nvPr/>
        </p:nvSpPr>
        <p:spPr>
          <a:xfrm>
            <a:off x="5221224" y="570585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36" name="Text 130"/>
          <p:cNvSpPr/>
          <p:nvPr/>
        </p:nvSpPr>
        <p:spPr>
          <a:xfrm>
            <a:off x="5221224" y="58887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900" dirty="0"/>
          </a:p>
        </p:txBody>
      </p:sp>
      <p:sp>
        <p:nvSpPr>
          <p:cNvPr id="137" name="Shape 131"/>
          <p:cNvSpPr/>
          <p:nvPr/>
        </p:nvSpPr>
        <p:spPr>
          <a:xfrm>
            <a:off x="6080760" y="5614416"/>
            <a:ext cx="786384" cy="640080"/>
          </a:xfrm>
          <a:prstGeom prst="roundRect">
            <a:avLst>
              <a:gd name="adj" fmla="val 7143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38" name="Text 132"/>
          <p:cNvSpPr/>
          <p:nvPr/>
        </p:nvSpPr>
        <p:spPr>
          <a:xfrm>
            <a:off x="6080760" y="570585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39" name="Text 133"/>
          <p:cNvSpPr/>
          <p:nvPr/>
        </p:nvSpPr>
        <p:spPr>
          <a:xfrm>
            <a:off x="6080760" y="58887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6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900" dirty="0"/>
          </a:p>
        </p:txBody>
      </p:sp>
      <p:sp>
        <p:nvSpPr>
          <p:cNvPr id="140" name="Shape 134"/>
          <p:cNvSpPr/>
          <p:nvPr/>
        </p:nvSpPr>
        <p:spPr>
          <a:xfrm>
            <a:off x="6940296" y="5614416"/>
            <a:ext cx="786384" cy="640080"/>
          </a:xfrm>
          <a:prstGeom prst="roundRect">
            <a:avLst>
              <a:gd name="adj" fmla="val 7143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6940296" y="570585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90 days</a:t>
            </a:r>
            <a:endParaRPr lang="en-US" sz="700" dirty="0"/>
          </a:p>
        </p:txBody>
      </p:sp>
      <p:sp>
        <p:nvSpPr>
          <p:cNvPr id="142" name="Text 136"/>
          <p:cNvSpPr/>
          <p:nvPr/>
        </p:nvSpPr>
        <p:spPr>
          <a:xfrm>
            <a:off x="6940296" y="58887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43" name="Text 137"/>
          <p:cNvSpPr/>
          <p:nvPr/>
        </p:nvSpPr>
        <p:spPr>
          <a:xfrm>
            <a:off x="4361688" y="6291072"/>
            <a:ext cx="3474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Buckets sum to the 102 active parent requests.</a:t>
            </a:r>
            <a:endParaRPr lang="en-US" sz="650" dirty="0"/>
          </a:p>
        </p:txBody>
      </p:sp>
      <p:sp>
        <p:nvSpPr>
          <p:cNvPr id="144" name="Shape 138"/>
          <p:cNvSpPr/>
          <p:nvPr/>
        </p:nvSpPr>
        <p:spPr>
          <a:xfrm>
            <a:off x="8028432" y="5230368"/>
            <a:ext cx="3685032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138160" y="5285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B2119"/>
          </a:solidFill>
          <a:ln w="12700">
            <a:solidFill>
              <a:srgbClr val="2B2119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138160" y="5292547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47" name="Text 141"/>
          <p:cNvSpPr/>
          <p:nvPr/>
        </p:nvSpPr>
        <p:spPr>
          <a:xfrm>
            <a:off x="8339328" y="52715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Stalled reviews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(no update in 7+ days)</a:t>
            </a:r>
            <a:endParaRPr lang="en-US" sz="1050" dirty="0"/>
          </a:p>
        </p:txBody>
      </p:sp>
      <p:sp>
        <p:nvSpPr>
          <p:cNvPr id="148" name="Text 142"/>
          <p:cNvSpPr/>
          <p:nvPr/>
        </p:nvSpPr>
        <p:spPr>
          <a:xfrm>
            <a:off x="8138160" y="544982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 </a:t>
            </a:r>
            <a:pPr indent="0" marL="0">
              <a:buNone/>
            </a:pPr>
            <a:r>
              <a:rPr lang="en-US" sz="800" dirty="0">
                <a:solidFill>
                  <a:srgbClr val="6E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reviews need an update.</a:t>
            </a:r>
            <a:endParaRPr lang="en-US" sz="800" dirty="0"/>
          </a:p>
        </p:txBody>
      </p:sp>
      <p:sp>
        <p:nvSpPr>
          <p:cNvPr id="149" name="Text 143"/>
          <p:cNvSpPr/>
          <p:nvPr/>
        </p:nvSpPr>
        <p:spPr>
          <a:xfrm>
            <a:off x="8138160" y="56144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50" name="Text 144"/>
          <p:cNvSpPr/>
          <p:nvPr/>
        </p:nvSpPr>
        <p:spPr>
          <a:xfrm>
            <a:off x="8138160" y="601675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stalled</a:t>
            </a:r>
            <a:endParaRPr lang="en-US" sz="800" dirty="0"/>
          </a:p>
        </p:txBody>
      </p:sp>
      <p:sp>
        <p:nvSpPr>
          <p:cNvPr id="151" name="Text 145"/>
          <p:cNvSpPr/>
          <p:nvPr/>
        </p:nvSpPr>
        <p:spPr>
          <a:xfrm>
            <a:off x="8138160" y="61447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800" dirty="0"/>
          </a:p>
        </p:txBody>
      </p:sp>
      <p:sp>
        <p:nvSpPr>
          <p:cNvPr id="152" name="Text 146"/>
          <p:cNvSpPr/>
          <p:nvPr/>
        </p:nvSpPr>
        <p:spPr>
          <a:xfrm>
            <a:off x="9070848" y="563270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teams</a:t>
            </a:r>
            <a:endParaRPr lang="en-US" sz="800" dirty="0"/>
          </a:p>
        </p:txBody>
      </p:sp>
      <p:sp>
        <p:nvSpPr>
          <p:cNvPr id="153" name="Text 147"/>
          <p:cNvSpPr/>
          <p:nvPr/>
        </p:nvSpPr>
        <p:spPr>
          <a:xfrm>
            <a:off x="9070848" y="581558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CyberArch</a:t>
            </a:r>
            <a:endParaRPr lang="en-US" sz="800" dirty="0"/>
          </a:p>
        </p:txBody>
      </p:sp>
      <p:sp>
        <p:nvSpPr>
          <p:cNvPr id="154" name="Text 148"/>
          <p:cNvSpPr/>
          <p:nvPr/>
        </p:nvSpPr>
        <p:spPr>
          <a:xfrm>
            <a:off x="10058400" y="5815584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5" name="Shape 149"/>
          <p:cNvSpPr/>
          <p:nvPr/>
        </p:nvSpPr>
        <p:spPr>
          <a:xfrm>
            <a:off x="9070848" y="5966460"/>
            <a:ext cx="1188720" cy="0"/>
          </a:xfrm>
          <a:prstGeom prst="line">
            <a:avLst/>
          </a:prstGeom>
          <a:noFill/>
          <a:ln w="6350">
            <a:solidFill>
              <a:srgbClr val="EAE6DE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9070848" y="59801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TPRM</a:t>
            </a:r>
            <a:endParaRPr lang="en-US" sz="800" dirty="0"/>
          </a:p>
        </p:txBody>
      </p:sp>
      <p:sp>
        <p:nvSpPr>
          <p:cNvPr id="157" name="Text 151"/>
          <p:cNvSpPr/>
          <p:nvPr/>
        </p:nvSpPr>
        <p:spPr>
          <a:xfrm>
            <a:off x="10058400" y="598017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58" name="Shape 152"/>
          <p:cNvSpPr/>
          <p:nvPr/>
        </p:nvSpPr>
        <p:spPr>
          <a:xfrm>
            <a:off x="9070848" y="6131052"/>
            <a:ext cx="1188720" cy="0"/>
          </a:xfrm>
          <a:prstGeom prst="line">
            <a:avLst/>
          </a:prstGeom>
          <a:noFill/>
          <a:ln w="6350">
            <a:solidFill>
              <a:srgbClr val="EAE6DE"/>
            </a:solidFill>
            <a:prstDash val="solid"/>
          </a:ln>
        </p:spPr>
      </p:sp>
      <p:sp>
        <p:nvSpPr>
          <p:cNvPr id="159" name="Text 153"/>
          <p:cNvSpPr/>
          <p:nvPr/>
        </p:nvSpPr>
        <p:spPr>
          <a:xfrm>
            <a:off x="9070848" y="61447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160" name="Text 154"/>
          <p:cNvSpPr/>
          <p:nvPr/>
        </p:nvSpPr>
        <p:spPr>
          <a:xfrm>
            <a:off x="10058400" y="614476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61" name="Shape 155"/>
          <p:cNvSpPr/>
          <p:nvPr/>
        </p:nvSpPr>
        <p:spPr>
          <a:xfrm>
            <a:off x="10460736" y="5888736"/>
            <a:ext cx="1042416" cy="219456"/>
          </a:xfrm>
          <a:prstGeom prst="roundRect">
            <a:avLst>
              <a:gd name="adj" fmla="val 20833"/>
            </a:avLst>
          </a:prstGeom>
          <a:solidFill>
            <a:srgbClr val="FBFAF8"/>
          </a:solidFill>
          <a:ln w="9525">
            <a:solidFill>
              <a:srgbClr val="D9D4CB"/>
            </a:solidFill>
            <a:prstDash val="solid"/>
          </a:ln>
        </p:spPr>
      </p:sp>
      <p:sp>
        <p:nvSpPr>
          <p:cNvPr id="162" name="Text 156"/>
          <p:cNvSpPr/>
          <p:nvPr/>
        </p:nvSpPr>
        <p:spPr>
          <a:xfrm>
            <a:off x="10460736" y="593902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2B2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details  →</a:t>
            </a:r>
            <a:endParaRPr lang="en-US" sz="750" dirty="0"/>
          </a:p>
        </p:txBody>
      </p:sp>
      <p:sp>
        <p:nvSpPr>
          <p:cNvPr id="163" name="Text 157"/>
          <p:cNvSpPr/>
          <p:nvPr/>
        </p:nvSpPr>
        <p:spPr>
          <a:xfrm>
            <a:off x="365760" y="6565392"/>
            <a:ext cx="8778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IT Intake dashboard (Jira)  |  BRD v1.5  |  No SLA defined  |  “Aged” = time open, “stalled” = no update in 7+ days.   See appendix for definitions.</a:t>
            </a:r>
            <a:endParaRPr lang="en-US" sz="700" dirty="0"/>
          </a:p>
        </p:txBody>
      </p:sp>
      <p:sp>
        <p:nvSpPr>
          <p:cNvPr id="164" name="Text 158"/>
          <p:cNvSpPr/>
          <p:nvPr/>
        </p:nvSpPr>
        <p:spPr>
          <a:xfrm>
            <a:off x="9326880" y="6565392"/>
            <a:ext cx="2496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 Motors —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Intake — Weekly Executive Summary</dc:title>
  <dc:subject>PptxGenJS Presentation</dc:subject>
  <dc:creator>Lucid Motors</dc:creator>
  <cp:lastModifiedBy>Lucid Motors</cp:lastModifiedBy>
  <cp:revision>1</cp:revision>
  <dcterms:created xsi:type="dcterms:W3CDTF">2026-08-13T18:58:40Z</dcterms:created>
  <dcterms:modified xsi:type="dcterms:W3CDTF">2026-08-13T18:58:40Z</dcterms:modified>
</cp:coreProperties>
</file>